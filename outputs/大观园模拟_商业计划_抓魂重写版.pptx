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2" r:id="rId7"/>
    <p:sldId id="258" r:id="rId8"/>
    <p:sldId id="260" r:id="rId9"/>
    <p:sldId id="267" r:id="rId10"/>
    <p:sldId id="270" r:id="rId11"/>
    <p:sldId id="269" r:id="rId12"/>
    <p:sldId id="271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web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rcRect l="9740" r="9740"/>
          <a:stretch>
            <a:fillRect/>
          </a:stretch>
        </p:blipFill>
        <p:spPr>
          <a:xfrm>
            <a:off x="6858000" y="609600"/>
            <a:ext cx="4724400" cy="4191000"/>
          </a:xfrm>
          <a:prstGeom prst="roundRect">
            <a:avLst>
              <a:gd name="adj" fmla="val 2727"/>
            </a:avLst>
          </a:prstGeom>
        </p:spPr>
      </p:pic>
      <p:sp>
        <p:nvSpPr>
          <p:cNvPr id="2" name="Rounded Rectangle 1"/>
          <p:cNvSpPr>
            <a:spLocks noGrp="1"/>
          </p:cNvSpPr>
          <p:nvPr/>
        </p:nvSpPr>
        <p:spPr>
          <a:xfrm>
            <a:off x="6629400" y="400050"/>
            <a:ext cx="5181600" cy="4629150"/>
          </a:xfrm>
          <a:prstGeom prst="roundRect">
            <a:avLst>
              <a:gd name="adj" fmla="val 3292"/>
            </a:avLst>
          </a:prstGeom>
          <a:noFill/>
          <a:ln w="9525">
            <a:solidFill>
              <a:srgbClr val="E6D6C8"/>
            </a:solidFill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723900"/>
            <a:ext cx="533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0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0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大观园模拟</a:t>
            </a:r>
            <a:endParaRPr sz="40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47700" y="1466850"/>
            <a:ext cx="581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礼法与情分驱动的群像模拟游戏</a:t>
            </a:r>
            <a:endParaRPr sz="2100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66750" y="2247900"/>
            <a:ext cx="5429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0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玩家玩的不是“古代版生活模拟”这个外壳，而是一座会评价人、牵制人、反噬人的府。</a:t>
            </a:r>
            <a:endParaRPr sz="1875" b="0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666750" y="3752850"/>
            <a:ext cx="5334000" cy="1242060"/>
          </a:xfrm>
          <a:prstGeom prst="roundRect">
            <a:avLst>
              <a:gd name="adj" fmla="val 13333"/>
            </a:avLst>
          </a:prstGeom>
          <a:solidFill>
            <a:srgbClr val="F1DDCF"/>
          </a:solidFill>
          <a:ln w="9525">
            <a:solidFill>
              <a:srgbClr val="E5C4B1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895350" y="39433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一句话定位</a:t>
            </a:r>
            <a:endParaRPr sz="1275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895350" y="42291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在中国古代共同体里，调度人、事、名分和人情，观察每个选择如何改变命运。</a:t>
            </a:r>
            <a:endParaRPr sz="1350" b="0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0960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大观园模拟 · 商业计划抓魂重写版</a:t>
            </a:r>
            <a:endParaRPr sz="750" b="0">
              <a:solidFill>
                <a:srgbClr val="A28B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1118235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750" b="0">
              <a:solidFill>
                <a:srgbClr val="A28B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WHAT MAKES IT DIFFERENT</a:t>
            </a:r>
            <a:endParaRPr sz="975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704850"/>
            <a:ext cx="857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28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体验完整的古代生活，规矩或随性</a:t>
            </a:r>
            <a:r>
              <a:rPr lang="zh-CN" sz="28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生活</a:t>
            </a:r>
            <a:endParaRPr lang="zh-CN" sz="28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28650" y="140970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35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等级森严的贾府</a:t>
            </a:r>
            <a:r>
              <a:rPr lang="en-US" altLang="zh-CN" sz="135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or </a:t>
            </a:r>
            <a:r>
              <a:rPr lang="zh-CN" sz="135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世外桃源大观园</a:t>
            </a:r>
            <a:endParaRPr lang="zh-CN" sz="135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Straight Connector 4"/>
          <p:cNvSpPr>
            <a:spLocks noGrp="1"/>
          </p:cNvSpPr>
          <p:nvPr/>
        </p:nvSpPr>
        <p:spPr>
          <a:xfrm>
            <a:off x="609600" y="1771650"/>
            <a:ext cx="10972800" cy="0"/>
          </a:xfrm>
          <a:prstGeom prst="line">
            <a:avLst/>
          </a:prstGeom>
          <a:noFill/>
          <a:ln w="9525">
            <a:solidFill>
              <a:srgbClr val="E6D6C8"/>
            </a:solidFill>
            <a:prstDash val="solid"/>
          </a:ln>
        </p:spPr>
      </p:sp>
      <p:sp>
        <p:nvSpPr>
          <p:cNvPr id="6" name="Rounded Rectangle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2266950"/>
            <a:ext cx="2381250" cy="2343150"/>
          </a:xfrm>
          <a:prstGeom prst="roundRect">
            <a:avLst>
              <a:gd name="adj" fmla="val 4878"/>
            </a:avLst>
          </a:prstGeom>
          <a:solidFill>
            <a:srgbClr val="FFFDF8"/>
          </a:solidFill>
          <a:ln w="9525">
            <a:solidFill>
              <a:srgbClr val="E6D6C8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95350" y="2438400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想做</a:t>
            </a:r>
            <a:endParaRPr sz="16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ectangle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95350" y="2819400"/>
            <a:ext cx="196215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角色有需求、性格、心绪和欲望，会想吃、想歇、想见人、想写诗、想逃开人群。</a:t>
            </a:r>
            <a:endParaRPr sz="120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ounded Rectangle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429000" y="2266950"/>
            <a:ext cx="2381250" cy="2343150"/>
          </a:xfrm>
          <a:prstGeom prst="roundRect">
            <a:avLst>
              <a:gd name="adj" fmla="val 4878"/>
            </a:avLst>
          </a:prstGeom>
          <a:solidFill>
            <a:srgbClr val="FFFDF8"/>
          </a:solidFill>
          <a:ln w="9525">
            <a:solidFill>
              <a:srgbClr val="E6D6C8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638550" y="2438400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该做</a:t>
            </a:r>
            <a:endParaRPr sz="16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ectangle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638550" y="2819400"/>
            <a:ext cx="196215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身份和职责把人放进秩序：主子可传令，仆从要随侍，晚辈要守礼。</a:t>
            </a:r>
            <a:endParaRPr sz="120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Rounded Rectangle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172200" y="2266950"/>
            <a:ext cx="2381250" cy="2343150"/>
          </a:xfrm>
          <a:prstGeom prst="roundRect">
            <a:avLst>
              <a:gd name="adj" fmla="val 4878"/>
            </a:avLst>
          </a:prstGeom>
          <a:solidFill>
            <a:srgbClr val="FFFDF8"/>
          </a:solidFill>
          <a:ln w="9525">
            <a:solidFill>
              <a:srgbClr val="E6D6C8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381750" y="2438400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敢做</a:t>
            </a:r>
            <a:endParaRPr sz="16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ectangle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381750" y="2819400"/>
            <a:ext cx="196215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关系、见证者、场景和性格决定一个动作是体面、亲近、逾矩，还是冒犯。</a:t>
            </a:r>
            <a:endParaRPr sz="120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Rounded Rectangle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915400" y="2266950"/>
            <a:ext cx="2381250" cy="2343150"/>
          </a:xfrm>
          <a:prstGeom prst="roundRect">
            <a:avLst>
              <a:gd name="adj" fmla="val 4878"/>
            </a:avLst>
          </a:prstGeom>
          <a:solidFill>
            <a:srgbClr val="FFFDF8"/>
          </a:solidFill>
          <a:ln w="9525">
            <a:solidFill>
              <a:srgbClr val="E6D6C8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9124950" y="2438400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做完之后</a:t>
            </a:r>
            <a:endParaRPr sz="16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Rectangle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124950" y="2819400"/>
            <a:ext cx="196215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任务质量、关系轴、状态、秩序和气泡回流，形成下一次选择的处境。</a:t>
            </a:r>
            <a:endParaRPr sz="120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819150" y="5200650"/>
            <a:ext cx="990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这就是红楼味：不是更多动作，而是每个动作都有名分和后果。</a:t>
            </a:r>
            <a:endParaRPr sz="2025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0960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大观园模拟 · 商业计划抓魂重写版</a:t>
            </a:r>
            <a:endParaRPr sz="750" b="0">
              <a:solidFill>
                <a:srgbClr val="A28B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1118235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750" b="0">
              <a:solidFill>
                <a:srgbClr val="A28B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PLAYABLE SCENE</a:t>
            </a:r>
            <a:endParaRPr sz="975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704850"/>
            <a:ext cx="857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28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新手教程：林黛玉进</a:t>
            </a:r>
            <a:r>
              <a:rPr lang="zh-CN" sz="28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贾府</a:t>
            </a:r>
            <a:endParaRPr lang="zh-CN" sz="28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28650" y="140970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35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模拟人生玩法的基础</a:t>
            </a:r>
            <a:r>
              <a:rPr lang="zh-CN" sz="135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教学</a:t>
            </a:r>
            <a:endParaRPr lang="zh-CN" sz="135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Straight Connector 4"/>
          <p:cNvSpPr>
            <a:spLocks noGrp="1"/>
          </p:cNvSpPr>
          <p:nvPr/>
        </p:nvSpPr>
        <p:spPr>
          <a:xfrm>
            <a:off x="609600" y="1771650"/>
            <a:ext cx="10972800" cy="0"/>
          </a:xfrm>
          <a:prstGeom prst="line">
            <a:avLst/>
          </a:prstGeom>
          <a:noFill/>
          <a:ln w="9525">
            <a:solidFill>
              <a:srgbClr val="E6D6C8"/>
            </a:solidFill>
            <a:prstDash val="solid"/>
          </a:ln>
        </p:spPr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238375"/>
            <a:ext cx="2095500" cy="3143250"/>
          </a:xfrm>
          <a:prstGeom prst="roundRect">
            <a:avLst>
              <a:gd name="adj" fmla="val 5455"/>
            </a:avLst>
          </a:prstGeom>
        </p:spPr>
      </p:pic>
      <p:sp>
        <p:nvSpPr>
          <p:cNvPr id="6" name="Rounded Rectangle 5"/>
          <p:cNvSpPr>
            <a:spLocks noGrp="1"/>
          </p:cNvSpPr>
          <p:nvPr/>
        </p:nvSpPr>
        <p:spPr>
          <a:xfrm>
            <a:off x="3371850" y="2152650"/>
            <a:ext cx="2381250" cy="2095500"/>
          </a:xfrm>
          <a:prstGeom prst="roundRect">
            <a:avLst>
              <a:gd name="adj" fmla="val 5455"/>
            </a:avLst>
          </a:prstGeom>
          <a:solidFill>
            <a:srgbClr val="FFFDF8"/>
          </a:solidFill>
          <a:ln w="9525">
            <a:solidFill>
              <a:srgbClr val="E6D6C8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3581400" y="2324100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人物</a:t>
            </a:r>
            <a:endParaRPr lang="zh-CN" sz="16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3581400" y="2705100"/>
            <a:ext cx="1962150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贾母疼惜，王夫人审视，凤姐周全，宝玉好奇。顺序、称呼、场合都会产生礼法解释。</a:t>
            </a:r>
            <a:endParaRPr sz="120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6096000" y="2152650"/>
            <a:ext cx="2381250" cy="2095500"/>
          </a:xfrm>
          <a:prstGeom prst="roundRect">
            <a:avLst>
              <a:gd name="adj" fmla="val 5455"/>
            </a:avLst>
          </a:prstGeom>
          <a:solidFill>
            <a:srgbClr val="FFFDF8"/>
          </a:solidFill>
          <a:ln w="9525">
            <a:solidFill>
              <a:srgbClr val="E6D6C8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6305550" y="2324100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基础</a:t>
            </a:r>
            <a:r>
              <a:rPr lang="zh-CN"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操作</a:t>
            </a:r>
            <a:endParaRPr lang="zh-CN" sz="16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6305550" y="2705100"/>
            <a:ext cx="1962150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传令把“安排住处、通报、取物、随侍”变成任务。谁下令、谁执行、做得好不好都会留下记录。</a:t>
            </a:r>
            <a:endParaRPr sz="120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8820150" y="2152650"/>
            <a:ext cx="2381250" cy="2095500"/>
          </a:xfrm>
          <a:prstGeom prst="roundRect">
            <a:avLst>
              <a:gd name="adj" fmla="val 5455"/>
            </a:avLst>
          </a:prstGeom>
          <a:solidFill>
            <a:srgbClr val="FFFDF8"/>
          </a:solidFill>
          <a:ln w="9525">
            <a:solidFill>
              <a:srgbClr val="E6D6C8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9029700" y="2324100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互动</a:t>
            </a:r>
            <a:endParaRPr lang="zh-CN" sz="16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9029700" y="2705100"/>
            <a:ext cx="1962150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紫鹃的贴身照拂需要服从与体恤支撑；合礼照顾和逾矩亲近要被系统分开。</a:t>
            </a:r>
            <a:endParaRPr sz="120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3371850" y="4800600"/>
            <a:ext cx="723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8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行走、社交、家具交互、基础需求</a:t>
            </a:r>
            <a:r>
              <a:rPr lang="zh-CN" sz="18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满足</a:t>
            </a:r>
            <a:endParaRPr lang="zh-CN" sz="1875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0960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大观园模拟 · 商业计划抓魂重写版</a:t>
            </a:r>
            <a:endParaRPr sz="750" b="0">
              <a:solidFill>
                <a:srgbClr val="A28B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1118235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750" b="0">
              <a:solidFill>
                <a:srgbClr val="A28B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RELATION MODEL</a:t>
            </a:r>
            <a:endParaRPr sz="975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704850"/>
            <a:ext cx="857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28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情感和</a:t>
            </a:r>
            <a:r>
              <a:rPr lang="zh-CN" sz="28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关系</a:t>
            </a:r>
            <a:endParaRPr lang="zh-CN" sz="28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28650" y="140970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数值的意义来自身份语境：同样的亲近，在朋友、主仆、亲缘里不是一回事。</a:t>
            </a:r>
            <a:endParaRPr sz="135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Straight Connector 4"/>
          <p:cNvSpPr>
            <a:spLocks noGrp="1"/>
          </p:cNvSpPr>
          <p:nvPr/>
        </p:nvSpPr>
        <p:spPr>
          <a:xfrm>
            <a:off x="609600" y="1771650"/>
            <a:ext cx="10972800" cy="0"/>
          </a:xfrm>
          <a:prstGeom prst="line">
            <a:avLst/>
          </a:prstGeom>
          <a:noFill/>
          <a:ln w="9525">
            <a:solidFill>
              <a:srgbClr val="E6D6C8"/>
            </a:solidFill>
            <a:prstDash val="solid"/>
          </a:ln>
        </p:spPr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781050" y="2266950"/>
            <a:ext cx="4591050" cy="990600"/>
          </a:xfrm>
          <a:prstGeom prst="roundRect">
            <a:avLst>
              <a:gd name="adj" fmla="val 11538"/>
            </a:avLst>
          </a:prstGeom>
          <a:solidFill>
            <a:srgbClr val="FFFDF8"/>
          </a:solidFill>
          <a:ln w="9525">
            <a:solidFill>
              <a:srgbClr val="E2CFC0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1009650" y="24384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友谊</a:t>
            </a:r>
            <a:endParaRPr sz="1800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2686050" y="24574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共同经历、陪伴和熟悉感</a:t>
            </a:r>
            <a:endParaRPr sz="1125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2686050" y="278130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谁愿意靠近谁</a:t>
            </a:r>
            <a:endParaRPr sz="13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6000750" y="2266950"/>
            <a:ext cx="4591050" cy="990600"/>
          </a:xfrm>
          <a:prstGeom prst="roundRect">
            <a:avLst>
              <a:gd name="adj" fmla="val 11538"/>
            </a:avLst>
          </a:prstGeom>
          <a:solidFill>
            <a:srgbClr val="FFFDF8"/>
          </a:solidFill>
          <a:ln w="9525">
            <a:solidFill>
              <a:srgbClr val="E2CFC0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6229350" y="24384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姻缘 / 好感</a:t>
            </a:r>
            <a:endParaRPr sz="1800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7905750" y="24574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偏爱、吸引、厌恶和情分</a:t>
            </a:r>
            <a:endParaRPr sz="1125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7905750" y="278130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谁会被谁牵动</a:t>
            </a:r>
            <a:endParaRPr sz="13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781050" y="3695700"/>
            <a:ext cx="4591050" cy="990600"/>
          </a:xfrm>
          <a:prstGeom prst="roundRect">
            <a:avLst>
              <a:gd name="adj" fmla="val 11538"/>
            </a:avLst>
          </a:prstGeom>
          <a:solidFill>
            <a:srgbClr val="FFFDF8"/>
          </a:solidFill>
          <a:ln w="9525">
            <a:solidFill>
              <a:srgbClr val="E2CFC0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1009650" y="38671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信任</a:t>
            </a:r>
            <a:endParaRPr sz="1800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2686050" y="388620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可靠、嘴严、公平、能否托付</a:t>
            </a:r>
            <a:endParaRPr sz="1125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2686050" y="42100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谁敢把事情交给谁</a:t>
            </a:r>
            <a:endParaRPr sz="13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6000750" y="3695700"/>
            <a:ext cx="4591050" cy="990600"/>
          </a:xfrm>
          <a:prstGeom prst="roundRect">
            <a:avLst>
              <a:gd name="adj" fmla="val 11538"/>
            </a:avLst>
          </a:prstGeom>
          <a:solidFill>
            <a:srgbClr val="F1DDCF"/>
          </a:solidFill>
          <a:ln w="9525">
            <a:solidFill>
              <a:srgbClr val="E2CFC0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6229350" y="38671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第四轴</a:t>
            </a:r>
            <a:endParaRPr sz="1800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7905750" y="388620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服从/体恤，孝道/慈爱</a:t>
            </a:r>
            <a:endParaRPr sz="1125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7905750" y="421005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谁有资格照拂、传令、宽恕或责罚</a:t>
            </a:r>
            <a:endParaRPr sz="13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Rectangle 21"/>
          <p:cNvSpPr>
            <a:spLocks noGrp="1"/>
          </p:cNvSpPr>
          <p:nvPr/>
        </p:nvSpPr>
        <p:spPr>
          <a:xfrm>
            <a:off x="914400" y="5314950"/>
            <a:ext cx="971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所以“紫鹃拍背安慰黛玉”可以是合礼照拂；“亲手背”仍可能逾矩。差别不在按钮名，而在名分、接触和第四轴。</a:t>
            </a:r>
            <a:endParaRPr sz="1725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60960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大观园模拟 · 商业计划抓魂重写版</a:t>
            </a:r>
            <a:endParaRPr sz="750" b="0">
              <a:solidFill>
                <a:srgbClr val="A28B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1118235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</a:t>
            </a:r>
            <a:endParaRPr sz="750" b="0">
              <a:solidFill>
                <a:srgbClr val="A28B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THE TENSION</a:t>
            </a:r>
            <a:endParaRPr sz="975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704850"/>
            <a:ext cx="857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戏剧</a:t>
            </a:r>
            <a:r>
              <a:rPr lang="zh-CN" sz="28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和</a:t>
            </a:r>
            <a:r>
              <a:rPr lang="zh-CN" sz="28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故事</a:t>
            </a:r>
            <a:endParaRPr lang="zh-CN" sz="28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28650" y="140970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玩家不是在照看孤立小人，而是在管理一张会变热、会结怨、会传话的关系网。</a:t>
            </a:r>
            <a:endParaRPr sz="135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Straight Connector 4"/>
          <p:cNvSpPr>
            <a:spLocks noGrp="1"/>
          </p:cNvSpPr>
          <p:nvPr/>
        </p:nvSpPr>
        <p:spPr>
          <a:xfrm>
            <a:off x="609600" y="1771650"/>
            <a:ext cx="10972800" cy="0"/>
          </a:xfrm>
          <a:prstGeom prst="line">
            <a:avLst/>
          </a:prstGeom>
          <a:noFill/>
          <a:ln w="9525">
            <a:solidFill>
              <a:srgbClr val="E6D6C8"/>
            </a:solidFill>
            <a:prstDash val="solid"/>
          </a:ln>
        </p:spPr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914400" y="2266950"/>
            <a:ext cx="2857500" cy="914400"/>
          </a:xfrm>
          <a:prstGeom prst="roundRect">
            <a:avLst>
              <a:gd name="adj" fmla="val 12500"/>
            </a:avLst>
          </a:prstGeom>
          <a:solidFill>
            <a:srgbClr val="FFFDF8"/>
          </a:solidFill>
          <a:ln w="9525">
            <a:solidFill>
              <a:srgbClr val="E3CABB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1123950" y="24384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规矩限制</a:t>
            </a:r>
            <a:endParaRPr sz="1575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123950" y="2743200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身份、场景、长幼、主仆边界给行为加压力</a:t>
            </a:r>
            <a:endParaRPr sz="1125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3943350" y="25622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D6A84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D6A84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1950" b="1">
              <a:solidFill>
                <a:srgbClr val="D6A84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4438650" y="2266950"/>
            <a:ext cx="2857500" cy="914400"/>
          </a:xfrm>
          <a:prstGeom prst="roundRect">
            <a:avLst>
              <a:gd name="adj" fmla="val 12500"/>
            </a:avLst>
          </a:prstGeom>
          <a:solidFill>
            <a:srgbClr val="F7E8DF"/>
          </a:solidFill>
          <a:ln w="9525">
            <a:solidFill>
              <a:srgbClr val="E3CABB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4648200" y="24384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人情推动</a:t>
            </a:r>
            <a:endParaRPr sz="1575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4648200" y="2743200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偏爱、怜惜、亏欠、思念让角色想靠近</a:t>
            </a:r>
            <a:endParaRPr sz="1125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7467600" y="25622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D6A84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D6A84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1950" b="1">
              <a:solidFill>
                <a:srgbClr val="D6A84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7962900" y="2266950"/>
            <a:ext cx="2857500" cy="914400"/>
          </a:xfrm>
          <a:prstGeom prst="roundRect">
            <a:avLst>
              <a:gd name="adj" fmla="val 12500"/>
            </a:avLst>
          </a:prstGeom>
          <a:solidFill>
            <a:srgbClr val="FFFDF8"/>
          </a:solidFill>
          <a:ln w="9525">
            <a:solidFill>
              <a:srgbClr val="E3CABB"/>
            </a:solidFill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8172450" y="24384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行动发生</a:t>
            </a:r>
            <a:endParaRPr sz="1575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8172450" y="2743200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传令、照拂、争执、请安、写诗、饮酒</a:t>
            </a:r>
            <a:endParaRPr sz="1125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10991850" y="256222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D6A84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D6A84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1950" b="1">
              <a:solidFill>
                <a:srgbClr val="D6A84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914400" y="3695700"/>
            <a:ext cx="2857500" cy="914400"/>
          </a:xfrm>
          <a:prstGeom prst="roundRect">
            <a:avLst>
              <a:gd name="adj" fmla="val 12500"/>
            </a:avLst>
          </a:prstGeom>
          <a:solidFill>
            <a:srgbClr val="F7E8DF"/>
          </a:solidFill>
          <a:ln w="9525">
            <a:solidFill>
              <a:srgbClr val="E3CABB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1123950" y="38671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旁人反应</a:t>
            </a:r>
            <a:endParaRPr sz="1575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1123950" y="4171950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被看见、被误会、被护短、被告状</a:t>
            </a:r>
            <a:endParaRPr sz="1125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Rectangle 20"/>
          <p:cNvSpPr>
            <a:spLocks noGrp="1"/>
          </p:cNvSpPr>
          <p:nvPr/>
        </p:nvSpPr>
        <p:spPr>
          <a:xfrm>
            <a:off x="3943350" y="399097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D6A84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D6A84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1950" b="1">
              <a:solidFill>
                <a:srgbClr val="D6A84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4438650" y="3695700"/>
            <a:ext cx="2857500" cy="914400"/>
          </a:xfrm>
          <a:prstGeom prst="roundRect">
            <a:avLst>
              <a:gd name="adj" fmla="val 12500"/>
            </a:avLst>
          </a:prstGeom>
          <a:solidFill>
            <a:srgbClr val="FFFDF8"/>
          </a:solidFill>
          <a:ln w="9525">
            <a:solidFill>
              <a:srgbClr val="E3CABB"/>
            </a:solidFill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4648200" y="38671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关系改写</a:t>
            </a:r>
            <a:endParaRPr sz="1575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4648200" y="4171950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信任、友谊、姻缘、服从/体恤重新分布</a:t>
            </a:r>
            <a:endParaRPr sz="1125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7467600" y="3990975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D6A84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D6A84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1950" b="1">
              <a:solidFill>
                <a:srgbClr val="D6A84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7962900" y="3695700"/>
            <a:ext cx="2857500" cy="914400"/>
          </a:xfrm>
          <a:prstGeom prst="roundRect">
            <a:avLst>
              <a:gd name="adj" fmla="val 12500"/>
            </a:avLst>
          </a:prstGeom>
          <a:solidFill>
            <a:srgbClr val="F7E8DF"/>
          </a:solidFill>
          <a:ln w="9525">
            <a:solidFill>
              <a:srgbClr val="E3CABB"/>
            </a:solidFill>
            <a:prstDash val="solid"/>
          </a:ln>
        </p:spPr>
      </p:sp>
      <p:sp>
        <p:nvSpPr>
          <p:cNvPr id="27" name="Rectangle 26"/>
          <p:cNvSpPr>
            <a:spLocks noGrp="1"/>
          </p:cNvSpPr>
          <p:nvPr/>
        </p:nvSpPr>
        <p:spPr>
          <a:xfrm>
            <a:off x="8172450" y="38671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新处境</a:t>
            </a:r>
            <a:endParaRPr sz="1575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Rectangle 27"/>
          <p:cNvSpPr>
            <a:spLocks noGrp="1"/>
          </p:cNvSpPr>
          <p:nvPr/>
        </p:nvSpPr>
        <p:spPr>
          <a:xfrm>
            <a:off x="8172450" y="4171950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下一次更敢、更怕、更怨，或更亲近</a:t>
            </a:r>
            <a:endParaRPr sz="1125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Rectangle 28"/>
          <p:cNvSpPr>
            <a:spLocks noGrp="1"/>
          </p:cNvSpPr>
          <p:nvPr/>
        </p:nvSpPr>
        <p:spPr>
          <a:xfrm>
            <a:off x="60960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大观园模拟 · 商业计划抓魂重写版</a:t>
            </a:r>
            <a:endParaRPr sz="750" b="0">
              <a:solidFill>
                <a:srgbClr val="A28B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Rectangle 29"/>
          <p:cNvSpPr>
            <a:spLocks noGrp="1"/>
          </p:cNvSpPr>
          <p:nvPr/>
        </p:nvSpPr>
        <p:spPr>
          <a:xfrm>
            <a:off x="1118235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750" b="0">
              <a:solidFill>
                <a:srgbClr val="A28B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PLAYER VERBS</a:t>
            </a:r>
            <a:endParaRPr sz="975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704850"/>
            <a:ext cx="857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28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世界</a:t>
            </a:r>
            <a:r>
              <a:rPr lang="zh-CN" sz="28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管理</a:t>
            </a:r>
            <a:endParaRPr lang="zh-CN" sz="28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28650" y="140970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每个操作都要能回到“人情、名分、后果”。</a:t>
            </a:r>
            <a:endParaRPr sz="135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Straight Connector 4"/>
          <p:cNvSpPr>
            <a:spLocks noGrp="1"/>
          </p:cNvSpPr>
          <p:nvPr/>
        </p:nvSpPr>
        <p:spPr>
          <a:xfrm>
            <a:off x="609600" y="1771650"/>
            <a:ext cx="10972800" cy="0"/>
          </a:xfrm>
          <a:prstGeom prst="line">
            <a:avLst/>
          </a:prstGeom>
          <a:noFill/>
          <a:ln w="9525">
            <a:solidFill>
              <a:srgbClr val="E6D6C8"/>
            </a:solidFill>
            <a:prstDash val="solid"/>
          </a:ln>
        </p:spPr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723900" y="2152650"/>
            <a:ext cx="3105150" cy="1009650"/>
          </a:xfrm>
          <a:prstGeom prst="roundRect">
            <a:avLst>
              <a:gd name="adj" fmla="val 11321"/>
            </a:avLst>
          </a:prstGeom>
          <a:solidFill>
            <a:srgbClr val="FFFDF8"/>
          </a:solidFill>
          <a:ln w="9525">
            <a:solidFill>
              <a:srgbClr val="E2CFC0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952500" y="2324100"/>
            <a:ext cx="857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安排</a:t>
            </a:r>
            <a:endParaRPr sz="1875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847850" y="2362200"/>
            <a:ext cx="1676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给人物排起居、分配住处和日常职责。</a:t>
            </a:r>
            <a:endParaRPr sz="120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4362450" y="2152650"/>
            <a:ext cx="3105150" cy="1009650"/>
          </a:xfrm>
          <a:prstGeom prst="roundRect">
            <a:avLst>
              <a:gd name="adj" fmla="val 11321"/>
            </a:avLst>
          </a:prstGeom>
          <a:solidFill>
            <a:srgbClr val="F1DDCF"/>
          </a:solidFill>
          <a:ln w="9525">
            <a:solidFill>
              <a:srgbClr val="E2CFC0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4591050" y="2324100"/>
            <a:ext cx="857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传令</a:t>
            </a:r>
            <a:endParaRPr sz="1875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5486400" y="2362200"/>
            <a:ext cx="1676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让合适的人去做合适的事，并承担做砸后的管理责任。</a:t>
            </a:r>
            <a:endParaRPr sz="120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8001000" y="2152650"/>
            <a:ext cx="3105150" cy="1009650"/>
          </a:xfrm>
          <a:prstGeom prst="roundRect">
            <a:avLst>
              <a:gd name="adj" fmla="val 11321"/>
            </a:avLst>
          </a:prstGeom>
          <a:solidFill>
            <a:srgbClr val="FFFDF8"/>
          </a:solidFill>
          <a:ln w="9525">
            <a:solidFill>
              <a:srgbClr val="E2CFC0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8229600" y="2324100"/>
            <a:ext cx="857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照拂</a:t>
            </a:r>
            <a:endParaRPr sz="1875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9124950" y="2362200"/>
            <a:ext cx="1676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照顾需求和心绪，也处理越界、亏欠和偏爱。</a:t>
            </a:r>
            <a:endParaRPr sz="120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723900" y="3581400"/>
            <a:ext cx="3105150" cy="1009650"/>
          </a:xfrm>
          <a:prstGeom prst="roundRect">
            <a:avLst>
              <a:gd name="adj" fmla="val 11321"/>
            </a:avLst>
          </a:prstGeom>
          <a:solidFill>
            <a:srgbClr val="FFFDF8"/>
          </a:solidFill>
          <a:ln w="9525">
            <a:solidFill>
              <a:srgbClr val="E2CFC0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952500" y="3752850"/>
            <a:ext cx="857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劝止</a:t>
            </a:r>
            <a:endParaRPr sz="1875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1847850" y="3790950"/>
            <a:ext cx="1676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拦住不合时宜的靠近、争执、醉酒和冒犯。</a:t>
            </a:r>
            <a:endParaRPr sz="120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4362450" y="3581400"/>
            <a:ext cx="3105150" cy="1009650"/>
          </a:xfrm>
          <a:prstGeom prst="roundRect">
            <a:avLst>
              <a:gd name="adj" fmla="val 11321"/>
            </a:avLst>
          </a:prstGeom>
          <a:solidFill>
            <a:srgbClr val="FFFDF8"/>
          </a:solidFill>
          <a:ln w="9525">
            <a:solidFill>
              <a:srgbClr val="E2CFC0"/>
            </a:solidFill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4591050" y="3752850"/>
            <a:ext cx="857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赏罚</a:t>
            </a:r>
            <a:endParaRPr sz="1875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5486400" y="3790950"/>
            <a:ext cx="1676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宽恕、训斥、扣月银、补做，改变服从和体恤。</a:t>
            </a:r>
            <a:endParaRPr sz="120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8001000" y="3581400"/>
            <a:ext cx="3105150" cy="1009650"/>
          </a:xfrm>
          <a:prstGeom prst="roundRect">
            <a:avLst>
              <a:gd name="adj" fmla="val 11321"/>
            </a:avLst>
          </a:prstGeom>
          <a:solidFill>
            <a:srgbClr val="FFFDF8"/>
          </a:solidFill>
          <a:ln w="9525">
            <a:solidFill>
              <a:srgbClr val="E2CFC0"/>
            </a:solidFill>
            <a:prstDash val="solid"/>
          </a:ln>
        </p:spPr>
      </p:sp>
      <p:sp>
        <p:nvSpPr>
          <p:cNvPr id="22" name="Rectangle 21"/>
          <p:cNvSpPr>
            <a:spLocks noGrp="1"/>
          </p:cNvSpPr>
          <p:nvPr/>
        </p:nvSpPr>
        <p:spPr>
          <a:xfrm>
            <a:off x="8229600" y="3752850"/>
            <a:ext cx="857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复盘</a:t>
            </a:r>
            <a:endParaRPr sz="1875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Rectangle 22"/>
          <p:cNvSpPr>
            <a:spLocks noGrp="1"/>
          </p:cNvSpPr>
          <p:nvPr/>
        </p:nvSpPr>
        <p:spPr>
          <a:xfrm>
            <a:off x="9124950" y="3790950"/>
            <a:ext cx="1676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看日志、关系变化、技能成长和秩序后果。</a:t>
            </a:r>
            <a:endParaRPr sz="120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60960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大观园模拟 · 商业计划抓魂重写版</a:t>
            </a:r>
            <a:endParaRPr sz="750" b="0">
              <a:solidFill>
                <a:srgbClr val="A28B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1118235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750" b="0">
              <a:solidFill>
                <a:srgbClr val="A28B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BUSINESS MOAT</a:t>
            </a:r>
            <a:endParaRPr sz="975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704850"/>
            <a:ext cx="857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28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机会</a:t>
            </a:r>
            <a:endParaRPr lang="zh-CN" sz="28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28650" y="140970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护城河来自一套可迁移的古代共同体模拟框架。</a:t>
            </a:r>
            <a:endParaRPr sz="135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Straight Connector 4"/>
          <p:cNvSpPr>
            <a:spLocks noGrp="1"/>
          </p:cNvSpPr>
          <p:nvPr/>
        </p:nvSpPr>
        <p:spPr>
          <a:xfrm>
            <a:off x="609600" y="1771650"/>
            <a:ext cx="10972800" cy="0"/>
          </a:xfrm>
          <a:prstGeom prst="line">
            <a:avLst/>
          </a:prstGeom>
          <a:noFill/>
          <a:ln w="9525">
            <a:solidFill>
              <a:srgbClr val="E6D6C8"/>
            </a:solidFill>
            <a:prstDash val="solid"/>
          </a:ln>
        </p:spPr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857250" y="232410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EFE8DF"/>
          </a:solidFill>
          <a:ln w="9525">
            <a:solidFill>
              <a:srgbClr val="E6D6C8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1066800" y="2495550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竞品强项</a:t>
            </a:r>
            <a:endParaRPr sz="16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066800" y="2876550"/>
            <a:ext cx="24384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现代生活、建造、动画、美术资源、易理解的消费场景。</a:t>
            </a:r>
            <a:endParaRPr sz="120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4667250" y="232410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F1DDCF"/>
          </a:solidFill>
          <a:ln w="9525">
            <a:solidFill>
              <a:srgbClr val="E6D6C8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4876800" y="2495550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我们的差异</a:t>
            </a:r>
            <a:endParaRPr sz="1650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4876800" y="2876550"/>
            <a:ext cx="24384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名分、传令、礼法、第四轴、秩序、人情债和群像反应。</a:t>
            </a:r>
            <a:endParaRPr sz="120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8477250" y="232410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FFFDF8"/>
          </a:solidFill>
          <a:ln w="9525">
            <a:solidFill>
              <a:srgbClr val="E6D6C8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8686800" y="2495550"/>
            <a:ext cx="2438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可迁移资产</a:t>
            </a:r>
            <a:endParaRPr sz="16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8686800" y="2876550"/>
            <a:ext cx="24384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贾府跑通后，可迁移到皇宫、官署、门派、市井、宅斗、书院。</a:t>
            </a:r>
            <a:endParaRPr sz="120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Rectangle 14"/>
          <p:cNvSpPr>
            <a:spLocks noGrp="1"/>
          </p:cNvSpPr>
          <p:nvPr/>
        </p:nvSpPr>
        <p:spPr>
          <a:xfrm>
            <a:off x="1143000" y="4953000"/>
            <a:ext cx="971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资料片卖的不是一批新家具，而是一套新的权力场：谁能命令谁、谁要守什么规矩、谁会欠谁人情。</a:t>
            </a:r>
            <a:endParaRPr sz="1950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Rectangle 15"/>
          <p:cNvSpPr>
            <a:spLocks noGrp="1"/>
          </p:cNvSpPr>
          <p:nvPr/>
        </p:nvSpPr>
        <p:spPr>
          <a:xfrm>
            <a:off x="60960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大观园模拟 · 商业计划抓魂重写版</a:t>
            </a:r>
            <a:endParaRPr sz="750" b="0">
              <a:solidFill>
                <a:srgbClr val="A28B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1118235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</a:t>
            </a:r>
            <a:endParaRPr sz="750" b="0">
              <a:solidFill>
                <a:srgbClr val="A28B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RISKS</a:t>
            </a:r>
            <a:endParaRPr sz="975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704850"/>
            <a:ext cx="857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28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挑战</a:t>
            </a:r>
            <a:endParaRPr lang="zh-CN" sz="28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28650" y="140970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后续工作要围绕“玩家能不能感到人情后果”来排优先级。</a:t>
            </a:r>
            <a:endParaRPr sz="135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Straight Connector 4"/>
          <p:cNvSpPr>
            <a:spLocks noGrp="1"/>
          </p:cNvSpPr>
          <p:nvPr/>
        </p:nvSpPr>
        <p:spPr>
          <a:xfrm>
            <a:off x="609600" y="1771650"/>
            <a:ext cx="10972800" cy="0"/>
          </a:xfrm>
          <a:prstGeom prst="line">
            <a:avLst/>
          </a:prstGeom>
          <a:noFill/>
          <a:ln w="9525">
            <a:solidFill>
              <a:srgbClr val="E6D6C8"/>
            </a:solidFill>
            <a:prstDash val="solid"/>
          </a:ln>
        </p:spPr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857250" y="2286000"/>
            <a:ext cx="3143250" cy="1524000"/>
          </a:xfrm>
          <a:prstGeom prst="roundRect">
            <a:avLst>
              <a:gd name="adj" fmla="val 7500"/>
            </a:avLst>
          </a:prstGeom>
          <a:solidFill>
            <a:srgbClr val="FFFDF8"/>
          </a:solidFill>
          <a:ln w="9525">
            <a:solidFill>
              <a:srgbClr val="E6D6C8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1066800" y="2457450"/>
            <a:ext cx="2724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风险一：功能散</a:t>
            </a:r>
            <a:endParaRPr sz="16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066800" y="2838450"/>
            <a:ext cx="27241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模块很多，但如果没有一个局面把它们串起来，玩家只会看到复杂 UI。</a:t>
            </a:r>
            <a:endParaRPr sz="120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4524375" y="2286000"/>
            <a:ext cx="3143250" cy="1524000"/>
          </a:xfrm>
          <a:prstGeom prst="roundRect">
            <a:avLst>
              <a:gd name="adj" fmla="val 7500"/>
            </a:avLst>
          </a:prstGeom>
          <a:solidFill>
            <a:srgbClr val="FFFDF8"/>
          </a:solidFill>
          <a:ln w="9525">
            <a:solidFill>
              <a:srgbClr val="E6D6C8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4733925" y="2457450"/>
            <a:ext cx="2724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风险二：美术压力</a:t>
            </a:r>
            <a:endParaRPr sz="16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4733925" y="2838450"/>
            <a:ext cx="27241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生活模拟天然吃动画和资源；短期应让 2D 视角服务系统验证。</a:t>
            </a:r>
            <a:endParaRPr sz="120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8191500" y="2286000"/>
            <a:ext cx="3143250" cy="1524000"/>
          </a:xfrm>
          <a:prstGeom prst="roundRect">
            <a:avLst>
              <a:gd name="adj" fmla="val 7500"/>
            </a:avLst>
          </a:prstGeom>
          <a:solidFill>
            <a:srgbClr val="FFFDF8"/>
          </a:solidFill>
          <a:ln w="9525">
            <a:solidFill>
              <a:srgbClr val="E6D6C8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8401050" y="2457450"/>
            <a:ext cx="2724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风险三：AI 难控</a:t>
            </a:r>
            <a:endParaRPr sz="16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8401050" y="2838450"/>
            <a:ext cx="27241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NPC 太随机会像坏掉，太听话会无聊；需要起居、意愿公式和气泡解释共同控场。</a:t>
            </a:r>
            <a:endParaRPr sz="120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2000250" y="4362450"/>
            <a:ext cx="8191500" cy="1104900"/>
          </a:xfrm>
          <a:prstGeom prst="roundRect">
            <a:avLst>
              <a:gd name="adj" fmla="val 10345"/>
            </a:avLst>
          </a:prstGeom>
          <a:solidFill>
            <a:srgbClr val="F1DDCF"/>
          </a:solidFill>
          <a:ln w="9525">
            <a:solidFill>
              <a:srgbClr val="E6D6C8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2209800" y="4533900"/>
            <a:ext cx="7772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当前对策</a:t>
            </a:r>
            <a:endParaRPr sz="1650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2209800" y="4914900"/>
            <a:ext cx="7772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用黛玉入府作为高密度 demo；用埋点和多日模拟检查人物是否有“人味”；用后台配置降低扩内容成本。</a:t>
            </a:r>
            <a:endParaRPr sz="120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60960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大观园模拟 · 商业计划抓魂重写版</a:t>
            </a:r>
            <a:endParaRPr sz="750" b="0">
              <a:solidFill>
                <a:srgbClr val="A28B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1118235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15</a:t>
            </a:r>
            <a:endParaRPr sz="750" b="0">
              <a:solidFill>
                <a:srgbClr val="A28B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COMMERCIAL PATH</a:t>
            </a:r>
            <a:endParaRPr sz="975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09600" y="704850"/>
            <a:ext cx="857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商业化</a:t>
            </a:r>
            <a:endParaRPr sz="28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28650" y="140970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不要把核心沉浸拆成数值付费。</a:t>
            </a:r>
            <a:endParaRPr sz="135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Straight Connector 4"/>
          <p:cNvSpPr>
            <a:spLocks noGrp="1"/>
          </p:cNvSpPr>
          <p:nvPr/>
        </p:nvSpPr>
        <p:spPr>
          <a:xfrm>
            <a:off x="609600" y="1771650"/>
            <a:ext cx="10972800" cy="0"/>
          </a:xfrm>
          <a:prstGeom prst="line">
            <a:avLst/>
          </a:prstGeom>
          <a:noFill/>
          <a:ln w="9525">
            <a:solidFill>
              <a:srgbClr val="E6D6C8"/>
            </a:solidFill>
            <a:prstDash val="solid"/>
          </a:ln>
        </p:spPr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742950" y="2324100"/>
            <a:ext cx="2381250" cy="2019300"/>
          </a:xfrm>
          <a:prstGeom prst="roundRect">
            <a:avLst>
              <a:gd name="adj" fmla="val 5660"/>
            </a:avLst>
          </a:prstGeom>
          <a:solidFill>
            <a:srgbClr val="FFFDF8"/>
          </a:solidFill>
          <a:ln w="9525">
            <a:solidFill>
              <a:srgbClr val="E6D6C8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952500" y="2495550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抢先体验</a:t>
            </a:r>
            <a:endParaRPr sz="16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952500" y="2876550"/>
            <a:ext cx="19621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先用贾府 Demo 验证玩家是否理解并喜欢“礼法人情管理”。</a:t>
            </a:r>
            <a:endParaRPr sz="120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3486150" y="2324100"/>
            <a:ext cx="2381250" cy="2019300"/>
          </a:xfrm>
          <a:prstGeom prst="roundRect">
            <a:avLst>
              <a:gd name="adj" fmla="val 5660"/>
            </a:avLst>
          </a:prstGeom>
          <a:solidFill>
            <a:srgbClr val="FFFDF8"/>
          </a:solidFill>
          <a:ln w="9525">
            <a:solidFill>
              <a:srgbClr val="E6D6C8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3695700" y="2495550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买断本体</a:t>
            </a:r>
            <a:endParaRPr sz="16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3695700" y="2876550"/>
            <a:ext cx="19621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完整贾府生活模拟，含核心人物、任务、关系和秩序系统。</a:t>
            </a:r>
            <a:endParaRPr sz="120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6229350" y="2324100"/>
            <a:ext cx="2381250" cy="2019300"/>
          </a:xfrm>
          <a:prstGeom prst="roundRect">
            <a:avLst>
              <a:gd name="adj" fmla="val 5660"/>
            </a:avLst>
          </a:prstGeom>
          <a:solidFill>
            <a:srgbClr val="F1DDCF"/>
          </a:solidFill>
          <a:ln w="9525">
            <a:solidFill>
              <a:srgbClr val="E6D6C8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6438900" y="2495550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资料片</a:t>
            </a:r>
            <a:endParaRPr sz="16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6438900" y="2876550"/>
            <a:ext cx="19621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皇宫、官署、门派、市井、节气民俗、诗社宴饮等权力场包。</a:t>
            </a:r>
            <a:endParaRPr sz="120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8972550" y="2324100"/>
            <a:ext cx="2381250" cy="2019300"/>
          </a:xfrm>
          <a:prstGeom prst="roundRect">
            <a:avLst>
              <a:gd name="adj" fmla="val 5660"/>
            </a:avLst>
          </a:prstGeom>
          <a:solidFill>
            <a:srgbClr val="FFFDF8"/>
          </a:solidFill>
          <a:ln w="9525">
            <a:solidFill>
              <a:srgbClr val="E6D6C8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9182100" y="2495550"/>
            <a:ext cx="1962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创作生态</a:t>
            </a:r>
            <a:endParaRPr sz="165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9182100" y="2876550"/>
            <a:ext cx="19621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A62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开放人物、院落、任务、互动文案和规则模板，走 Mod/UGC。</a:t>
            </a:r>
            <a:endParaRPr sz="1200" b="0">
              <a:solidFill>
                <a:srgbClr val="7A625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Rectangle 17"/>
          <p:cNvSpPr>
            <a:spLocks noGrp="1"/>
          </p:cNvSpPr>
          <p:nvPr/>
        </p:nvSpPr>
        <p:spPr>
          <a:xfrm>
            <a:off x="1123950" y="5048250"/>
            <a:ext cx="914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长期想象力：每个 DLC 都不是换皮地图，而是一种新的社会规则。</a:t>
            </a:r>
            <a:endParaRPr sz="2100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Rectangle 18"/>
          <p:cNvSpPr>
            <a:spLocks noGrp="1"/>
          </p:cNvSpPr>
          <p:nvPr/>
        </p:nvSpPr>
        <p:spPr>
          <a:xfrm>
            <a:off x="60960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大观园模拟 · 商业计划抓魂重写版</a:t>
            </a:r>
            <a:endParaRPr sz="750" b="0">
              <a:solidFill>
                <a:srgbClr val="A28B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1118235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14</a:t>
            </a:r>
            <a:endParaRPr sz="750" b="0">
              <a:solidFill>
                <a:srgbClr val="A28B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762000" y="876300"/>
            <a:ext cx="609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60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600" b="1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下一步只做一件事</a:t>
            </a:r>
            <a:endParaRPr sz="3600" b="1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781050" y="1619250"/>
            <a:ext cx="857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把“黛玉入府”做成一个能让玩家记住的局。</a:t>
            </a:r>
            <a:endParaRPr sz="2400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819150" y="2533650"/>
            <a:ext cx="10382250" cy="2362200"/>
          </a:xfrm>
          <a:prstGeom prst="roundRect">
            <a:avLst>
              <a:gd name="adj" fmla="val 6452"/>
            </a:avLst>
          </a:prstGeom>
          <a:solidFill>
            <a:srgbClr val="FFFDF8"/>
          </a:solidFill>
          <a:ln w="9525">
            <a:solidFill>
              <a:srgbClr val="E2CFC0"/>
            </a:solidFill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200150" y="28956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Demo 成功的信号</a:t>
            </a:r>
            <a:endParaRPr sz="1950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1200150" y="3352800"/>
            <a:ext cx="9144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玩家不是说“功能很多”，而是说：</a:t>
            </a:r>
            <a:endParaRPr sz="1800" b="0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sz="1800"/>
          </a:p>
          <a:p>
            <a:pPr algn="l">
              <a:defRPr sz="1800" b="0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2A211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“我刚才怕黛玉受委屈，所以让紫鹃去照顾她；但又担心太亲近被旁人看作逾矩。后来我宽恕了紫鹃一次，她对黛玉更服帖，可院里的规矩也松了一点。”</a:t>
            </a:r>
            <a:endParaRPr sz="1800" b="0">
              <a:solidFill>
                <a:srgbClr val="2A211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200150" y="5257800"/>
            <a:ext cx="7810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32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A842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这句话出现，游戏就真的站住了。</a:t>
            </a:r>
            <a:endParaRPr sz="2325" b="1">
              <a:solidFill>
                <a:srgbClr val="A842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09600" y="65151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大观园模拟 · 商业计划抓魂重写版</a:t>
            </a:r>
            <a:endParaRPr sz="750" b="0">
              <a:solidFill>
                <a:srgbClr val="A28B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1182350" y="64960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50" b="0">
                <a:solidFill>
                  <a:srgbClr val="A28B7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16</a:t>
            </a:r>
            <a:endParaRPr sz="750" b="0">
              <a:solidFill>
                <a:srgbClr val="A28B7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4.5,&quot;left&quot;:54,&quot;top&quot;:178.5,&quot;width&quot;:835.5}"/>
</p:tagLst>
</file>

<file path=ppt/tags/tag2.xml><?xml version="1.0" encoding="utf-8"?>
<p:tagLst xmlns:p="http://schemas.openxmlformats.org/presentationml/2006/main">
  <p:tag name="KSO_WM_DIAGRAM_VIRTUALLY_FRAME" val="{&quot;height&quot;:184.5,&quot;left&quot;:54,&quot;top&quot;:178.5,&quot;width&quot;:835.5}"/>
</p:tagLst>
</file>

<file path=ppt/tags/tag3.xml><?xml version="1.0" encoding="utf-8"?>
<p:tagLst xmlns:p="http://schemas.openxmlformats.org/presentationml/2006/main">
  <p:tag name="KSO_WM_DIAGRAM_VIRTUALLY_FRAME" val="{&quot;height&quot;:184.5,&quot;left&quot;:54,&quot;top&quot;:178.5,&quot;width&quot;:835.5}"/>
</p:tagLst>
</file>

<file path=ppt/tags/tag4.xml><?xml version="1.0" encoding="utf-8"?>
<p:tagLst xmlns:p="http://schemas.openxmlformats.org/presentationml/2006/main">
  <p:tag name="KSO_WM_DIAGRAM_VIRTUALLY_FRAME" val="{&quot;height&quot;:184.5,&quot;left&quot;:54,&quot;top&quot;:178.5,&quot;width&quot;:835.5}"/>
</p:tagLst>
</file>

<file path=ppt/tags/tag5.xml><?xml version="1.0" encoding="utf-8"?>
<p:tagLst xmlns:p="http://schemas.openxmlformats.org/presentationml/2006/main">
  <p:tag name="KSO_WM_DIAGRAM_VIRTUALLY_FRAME" val="{&quot;height&quot;:184.5,&quot;left&quot;:54,&quot;top&quot;:178.5,&quot;width&quot;:835.5}"/>
</p:tagLst>
</file>

<file path=ppt/tags/tag6.xml><?xml version="1.0" encoding="utf-8"?>
<p:tagLst xmlns:p="http://schemas.openxmlformats.org/presentationml/2006/main">
  <p:tag name="KSO_WM_DIAGRAM_VIRTUALLY_FRAME" val="{&quot;height&quot;:184.5,&quot;left&quot;:54,&quot;top&quot;:178.5,&quot;width&quot;:835.5}"/>
</p:tagLst>
</file>

<file path=ppt/tags/tag7.xml><?xml version="1.0" encoding="utf-8"?>
<p:tagLst xmlns:p="http://schemas.openxmlformats.org/presentationml/2006/main">
  <p:tag name="KSO_WM_DIAGRAM_VIRTUALLY_FRAME" val="{&quot;height&quot;:184.5,&quot;left&quot;:54,&quot;top&quot;:178.5,&quot;width&quot;:835.5}"/>
</p:tagLst>
</file>

<file path=ppt/tags/tag8.xml><?xml version="1.0" encoding="utf-8"?>
<p:tagLst xmlns:p="http://schemas.openxmlformats.org/presentationml/2006/main">
  <p:tag name="KSO_WM_DIAGRAM_VIRTUALLY_FRAME" val="{&quot;height&quot;:184.5,&quot;left&quot;:54,&quot;top&quot;:178.5,&quot;width&quot;:835.5}"/>
</p:tagLst>
</file>

<file path=ppt/tags/tag9.xml><?xml version="1.0" encoding="utf-8"?>
<p:tagLst xmlns:p="http://schemas.openxmlformats.org/presentationml/2006/main">
  <p:tag name="KSO_WM_DIAGRAM_VIRTUALLY_FRAME" val="{&quot;height&quot;:184.5,&quot;left&quot;:54,&quot;top&quot;:178.5,&quot;width&quot;:835.5}"/>
</p:tagLst>
</file>

<file path=ppt/tags/tag10.xml><?xml version="1.0" encoding="utf-8"?>
<p:tagLst xmlns:p="http://schemas.openxmlformats.org/presentationml/2006/main">
  <p:tag name="KSO_WM_DIAGRAM_VIRTUALLY_FRAME" val="{&quot;height&quot;:184.5,&quot;left&quot;:54,&quot;top&quot;:178.5,&quot;width&quot;:835.5}"/>
</p:tagLst>
</file>

<file path=ppt/tags/tag11.xml><?xml version="1.0" encoding="utf-8"?>
<p:tagLst xmlns:p="http://schemas.openxmlformats.org/presentationml/2006/main">
  <p:tag name="KSO_WM_DIAGRAM_VIRTUALLY_FRAME" val="{&quot;height&quot;:184.5,&quot;left&quot;:54,&quot;top&quot;:178.5,&quot;width&quot;:835.5}"/>
</p:tagLst>
</file>

<file path=ppt/tags/tag12.xml><?xml version="1.0" encoding="utf-8"?>
<p:tagLst xmlns:p="http://schemas.openxmlformats.org/presentationml/2006/main">
  <p:tag name="KSO_WM_DIAGRAM_VIRTUALLY_FRAME" val="{&quot;height&quot;:184.5,&quot;left&quot;:54,&quot;top&quot;:178.5,&quot;width&quot;:835.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1950</Words>
  <Application>WPS Sheets</Application>
  <PresentationFormat>Converted Presentation</PresentationFormat>
  <Paragraphs>274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PingFang SC</vt:lpstr>
      <vt:lpstr>Microsoft YaHei</vt:lpstr>
      <vt:lpstr>汉仪旗黑</vt:lpstr>
      <vt:lpstr>Arial Unicode MS</vt:lpstr>
      <vt:lpstr>Calibri</vt:lpstr>
      <vt:lpstr>Helvetica Neue</vt:lpstr>
      <vt:lpstr>汉仪书宋二KW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WPS_1752826996</cp:lastModifiedBy>
  <cp:revision>3</cp:revision>
  <dcterms:created xsi:type="dcterms:W3CDTF">2026-07-15T08:49:09Z</dcterms:created>
  <dcterms:modified xsi:type="dcterms:W3CDTF">2026-07-15T08:49:09Z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26009E076FE48204A627576A3DC2CE8B_42</vt:lpwstr>
  </property>
  <property fmtid="{D5CDD505-2E9C-101B-9397-08002B2CF9AE}" pid="3" name="KSOProductBuildVer">
    <vt:lpwstr>1033-12.1.26026.26026</vt:lpwstr>
  </property>
</Properties>
</file>